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 Bold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93681" y="2417493"/>
            <a:ext cx="5100638" cy="671512"/>
            <a:chOff x="0" y="0"/>
            <a:chExt cx="6800850" cy="895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0850" cy="895350"/>
            </a:xfrm>
            <a:custGeom>
              <a:avLst/>
              <a:gdLst/>
              <a:ahLst/>
              <a:cxnLst/>
              <a:rect l="l" t="t" r="r" b="b"/>
              <a:pathLst>
                <a:path w="6800850" h="895350">
                  <a:moveTo>
                    <a:pt x="0" y="447675"/>
                  </a:moveTo>
                  <a:cubicBezTo>
                    <a:pt x="0" y="200406"/>
                    <a:pt x="200406" y="0"/>
                    <a:pt x="447675" y="0"/>
                  </a:cubicBezTo>
                  <a:lnTo>
                    <a:pt x="6353175" y="0"/>
                  </a:lnTo>
                  <a:cubicBezTo>
                    <a:pt x="6600444" y="0"/>
                    <a:pt x="6800850" y="200406"/>
                    <a:pt x="6800850" y="447675"/>
                  </a:cubicBezTo>
                  <a:cubicBezTo>
                    <a:pt x="6800850" y="694944"/>
                    <a:pt x="6600444" y="895350"/>
                    <a:pt x="6353175" y="895350"/>
                  </a:cubicBezTo>
                  <a:lnTo>
                    <a:pt x="447675" y="895350"/>
                  </a:lnTo>
                  <a:cubicBezTo>
                    <a:pt x="200406" y="895350"/>
                    <a:pt x="0" y="694944"/>
                    <a:pt x="0" y="447675"/>
                  </a:cubicBezTo>
                  <a:close/>
                </a:path>
              </a:pathLst>
            </a:custGeom>
            <a:solidFill>
              <a:srgbClr val="191E46"/>
            </a:solidFill>
            <a:ln w="14288" cap="sq">
              <a:solidFill>
                <a:srgbClr val="222562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572500" y="6719364"/>
            <a:ext cx="1143000" cy="85725"/>
            <a:chOff x="0" y="0"/>
            <a:chExt cx="1524000" cy="1143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0" cy="114300"/>
            </a:xfrm>
            <a:custGeom>
              <a:avLst/>
              <a:gdLst/>
              <a:ahLst/>
              <a:cxnLst/>
              <a:rect l="l" t="t" r="r" b="b"/>
              <a:pathLst>
                <a:path w="1524000" h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lnTo>
                    <a:pt x="1466850" y="0"/>
                  </a:lnTo>
                  <a:cubicBezTo>
                    <a:pt x="1498473" y="0"/>
                    <a:pt x="1524000" y="25527"/>
                    <a:pt x="1524000" y="57150"/>
                  </a:cubicBezTo>
                  <a:cubicBezTo>
                    <a:pt x="1524000" y="88773"/>
                    <a:pt x="1498473" y="114300"/>
                    <a:pt x="1466850" y="114300"/>
                  </a:cubicBezTo>
                  <a:lnTo>
                    <a:pt x="57150" y="114300"/>
                  </a:ln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059669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651571" y="3643836"/>
            <a:ext cx="4984849" cy="156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98"/>
              </a:lnSpc>
            </a:pPr>
            <a:r>
              <a:rPr lang="en-US" sz="10999" b="1" i="1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SONAR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7081" y="5400151"/>
            <a:ext cx="951383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4249" b="1" i="1">
                <a:solidFill>
                  <a:srgbClr val="94A3B8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Student Online Navigation &amp; Routing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37387" y="7481364"/>
            <a:ext cx="46132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9"/>
              </a:lnSpc>
            </a:pPr>
            <a:r>
              <a:rPr lang="en-US" sz="2674" b="1" i="1">
                <a:solidFill>
                  <a:srgbClr val="CBD5E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Never wait in the rain again.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21401" y="2610374"/>
            <a:ext cx="444519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 b="1" i="1">
                <a:solidFill>
                  <a:srgbClr val="818CF8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COLLEGE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4807744"/>
            <a:ext cx="5029200" cy="3557588"/>
            <a:chOff x="0" y="0"/>
            <a:chExt cx="6705600" cy="47434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05600" cy="4743450"/>
            </a:xfrm>
            <a:custGeom>
              <a:avLst/>
              <a:gdLst/>
              <a:ahLst/>
              <a:cxnLst/>
              <a:rect l="l" t="t" r="r" b="b"/>
              <a:pathLst>
                <a:path w="6705600" h="474345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400800" y="0"/>
                  </a:lnTo>
                  <a:cubicBezTo>
                    <a:pt x="6569075" y="0"/>
                    <a:pt x="6705600" y="136398"/>
                    <a:pt x="6705600" y="304800"/>
                  </a:cubicBezTo>
                  <a:lnTo>
                    <a:pt x="6705600" y="4438650"/>
                  </a:lnTo>
                  <a:cubicBezTo>
                    <a:pt x="6705600" y="4606925"/>
                    <a:pt x="6569202" y="4743450"/>
                    <a:pt x="6400800" y="4743450"/>
                  </a:cubicBezTo>
                  <a:lnTo>
                    <a:pt x="304800" y="4743450"/>
                  </a:lnTo>
                  <a:cubicBezTo>
                    <a:pt x="136525" y="4743450"/>
                    <a:pt x="0" y="4607052"/>
                    <a:pt x="0" y="44386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629400" y="4807744"/>
            <a:ext cx="5029200" cy="3557588"/>
            <a:chOff x="0" y="0"/>
            <a:chExt cx="6705600" cy="47434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05600" cy="4743450"/>
            </a:xfrm>
            <a:custGeom>
              <a:avLst/>
              <a:gdLst/>
              <a:ahLst/>
              <a:cxnLst/>
              <a:rect l="l" t="t" r="r" b="b"/>
              <a:pathLst>
                <a:path w="6705600" h="474345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400800" y="0"/>
                  </a:lnTo>
                  <a:cubicBezTo>
                    <a:pt x="6569075" y="0"/>
                    <a:pt x="6705600" y="136398"/>
                    <a:pt x="6705600" y="304800"/>
                  </a:cubicBezTo>
                  <a:lnTo>
                    <a:pt x="6705600" y="4438650"/>
                  </a:lnTo>
                  <a:cubicBezTo>
                    <a:pt x="6705600" y="4606925"/>
                    <a:pt x="6569202" y="4743450"/>
                    <a:pt x="6400800" y="4743450"/>
                  </a:cubicBezTo>
                  <a:lnTo>
                    <a:pt x="304800" y="4743450"/>
                  </a:lnTo>
                  <a:cubicBezTo>
                    <a:pt x="136525" y="4743450"/>
                    <a:pt x="0" y="4607052"/>
                    <a:pt x="0" y="44386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115800" y="4807744"/>
            <a:ext cx="5029200" cy="3557588"/>
            <a:chOff x="0" y="0"/>
            <a:chExt cx="6705600" cy="47434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05600" cy="4743450"/>
            </a:xfrm>
            <a:custGeom>
              <a:avLst/>
              <a:gdLst/>
              <a:ahLst/>
              <a:cxnLst/>
              <a:rect l="l" t="t" r="r" b="b"/>
              <a:pathLst>
                <a:path w="6705600" h="474345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400800" y="0"/>
                  </a:lnTo>
                  <a:cubicBezTo>
                    <a:pt x="6569075" y="0"/>
                    <a:pt x="6705600" y="136398"/>
                    <a:pt x="6705600" y="304800"/>
                  </a:cubicBezTo>
                  <a:lnTo>
                    <a:pt x="6705600" y="4438650"/>
                  </a:lnTo>
                  <a:cubicBezTo>
                    <a:pt x="6705600" y="4606925"/>
                    <a:pt x="6569202" y="4743450"/>
                    <a:pt x="6400800" y="4743450"/>
                  </a:cubicBezTo>
                  <a:lnTo>
                    <a:pt x="304800" y="4743450"/>
                  </a:lnTo>
                  <a:cubicBezTo>
                    <a:pt x="136525" y="4743450"/>
                    <a:pt x="0" y="4607052"/>
                    <a:pt x="0" y="44386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00200" y="5379244"/>
            <a:ext cx="4114800" cy="571500"/>
            <a:chOff x="0" y="0"/>
            <a:chExt cx="5486400" cy="7620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5486400" cy="762000"/>
            </a:xfrm>
            <a:custGeom>
              <a:avLst/>
              <a:gdLst/>
              <a:ahLst/>
              <a:cxnLst/>
              <a:rect l="l" t="t" r="r" b="b"/>
              <a:pathLst>
                <a:path w="5486400" h="762000">
                  <a:moveTo>
                    <a:pt x="0" y="0"/>
                  </a:moveTo>
                  <a:lnTo>
                    <a:pt x="5486400" y="0"/>
                  </a:lnTo>
                  <a:lnTo>
                    <a:pt x="5486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50" b="-125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086600" y="5379244"/>
            <a:ext cx="4114800" cy="571500"/>
            <a:chOff x="0" y="0"/>
            <a:chExt cx="5486400" cy="7620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486400" cy="762000"/>
            </a:xfrm>
            <a:custGeom>
              <a:avLst/>
              <a:gdLst/>
              <a:ahLst/>
              <a:cxnLst/>
              <a:rect l="l" t="t" r="r" b="b"/>
              <a:pathLst>
                <a:path w="5486400" h="762000">
                  <a:moveTo>
                    <a:pt x="0" y="0"/>
                  </a:moveTo>
                  <a:lnTo>
                    <a:pt x="5486400" y="0"/>
                  </a:lnTo>
                  <a:lnTo>
                    <a:pt x="5486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50" b="-125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573000" y="5379244"/>
            <a:ext cx="4114800" cy="571500"/>
            <a:chOff x="0" y="0"/>
            <a:chExt cx="5486400" cy="7620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486400" cy="762000"/>
            </a:xfrm>
            <a:custGeom>
              <a:avLst/>
              <a:gdLst/>
              <a:ahLst/>
              <a:cxnLst/>
              <a:rect l="l" t="t" r="r" b="b"/>
              <a:pathLst>
                <a:path w="5486400" h="762000">
                  <a:moveTo>
                    <a:pt x="0" y="0"/>
                  </a:moveTo>
                  <a:lnTo>
                    <a:pt x="5486400" y="0"/>
                  </a:lnTo>
                  <a:lnTo>
                    <a:pt x="5486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50" b="-1250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43000" y="914400"/>
            <a:ext cx="236220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 i="1" dirty="0">
                <a:solidFill>
                  <a:srgbClr val="EF4444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THE PROBLEM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428750"/>
            <a:ext cx="8949035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The Commuter's Dilemma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" y="2505075"/>
            <a:ext cx="1105495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9"/>
              </a:lnSpc>
            </a:pPr>
            <a:r>
              <a:rPr lang="en-US" sz="2674" b="1" i="1">
                <a:solidFill>
                  <a:srgbClr val="64748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Daily transit causes unnecessary anxiety for students and parents.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0200" y="6293644"/>
            <a:ext cx="3640038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3349" b="1" i="1" dirty="0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Phantom Delays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00200" y="6955631"/>
            <a:ext cx="4257675" cy="820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224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Waiting indefinitely with zero visibility on arrival times.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86599" y="6293644"/>
            <a:ext cx="3005435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3349" b="1" i="1" dirty="0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Missed Rides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86600" y="6955631"/>
            <a:ext cx="4257675" cy="820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224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Running late by a single minute means a missed class.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73000" y="6293644"/>
            <a:ext cx="457200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3349" b="1" i="1" dirty="0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Anxious Parents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73000" y="6955631"/>
            <a:ext cx="4257675" cy="820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224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Complete blind spot regarding student safety and 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0" y="0"/>
            <a:ext cx="8001000" cy="10287000"/>
            <a:chOff x="0" y="0"/>
            <a:chExt cx="10668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10668000" cy="13716000"/>
            </a:xfrm>
            <a:custGeom>
              <a:avLst/>
              <a:gdLst/>
              <a:ahLst/>
              <a:cxnLst/>
              <a:rect l="l" t="t" r="r" b="b"/>
              <a:pathLst>
                <a:path w="10668000" h="13716000">
                  <a:moveTo>
                    <a:pt x="0" y="0"/>
                  </a:moveTo>
                  <a:lnTo>
                    <a:pt x="10668000" y="0"/>
                  </a:lnTo>
                  <a:lnTo>
                    <a:pt x="1066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0" y="0"/>
            <a:ext cx="8001000" cy="10287000"/>
            <a:chOff x="0" y="0"/>
            <a:chExt cx="10668000" cy="13716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668000" cy="13716000"/>
            </a:xfrm>
            <a:custGeom>
              <a:avLst/>
              <a:gdLst/>
              <a:ahLst/>
              <a:cxnLst/>
              <a:rect l="l" t="t" r="r" b="b"/>
              <a:pathLst>
                <a:path w="10668000" h="13716000">
                  <a:moveTo>
                    <a:pt x="0" y="0"/>
                  </a:moveTo>
                  <a:lnTo>
                    <a:pt x="10668000" y="0"/>
                  </a:lnTo>
                  <a:lnTo>
                    <a:pt x="1066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43000" y="5609187"/>
            <a:ext cx="342900" cy="371475"/>
            <a:chOff x="0" y="0"/>
            <a:chExt cx="457200" cy="4953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457200" cy="495300"/>
            </a:xfrm>
            <a:custGeom>
              <a:avLst/>
              <a:gdLst/>
              <a:ahLst/>
              <a:cxnLst/>
              <a:rect l="l" t="t" r="r" b="b"/>
              <a:pathLst>
                <a:path w="457200" h="4953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" y="6352137"/>
            <a:ext cx="342900" cy="371475"/>
            <a:chOff x="0" y="0"/>
            <a:chExt cx="457200" cy="4953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457200" cy="495300"/>
            </a:xfrm>
            <a:custGeom>
              <a:avLst/>
              <a:gdLst/>
              <a:ahLst/>
              <a:cxnLst/>
              <a:rect l="l" t="t" r="r" b="b"/>
              <a:pathLst>
                <a:path w="457200" h="4953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143000" y="7095087"/>
            <a:ext cx="342900" cy="371475"/>
            <a:chOff x="0" y="0"/>
            <a:chExt cx="457200" cy="4953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457200" cy="495300"/>
            </a:xfrm>
            <a:custGeom>
              <a:avLst/>
              <a:gdLst/>
              <a:ahLst/>
              <a:cxnLst/>
              <a:rect l="l" t="t" r="r" b="b"/>
              <a:pathLst>
                <a:path w="457200" h="4953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143000" y="2834726"/>
            <a:ext cx="169411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i="1">
                <a:solidFill>
                  <a:srgbClr val="4F46E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THE SOLUTION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3415751"/>
            <a:ext cx="8551069" cy="176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All at one place.</a:t>
            </a:r>
          </a:p>
          <a:p>
            <a:pPr algn="l">
              <a:lnSpc>
                <a:spcPts val="6930"/>
              </a:lnSpc>
            </a:pPr>
            <a:r>
              <a:rPr lang="en-US" sz="6300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Simple live tracking.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4500" y="5556799"/>
            <a:ext cx="562332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Live Map: Real-time GPS positioning.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4500" y="6299749"/>
            <a:ext cx="673224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Accuracy: Minute-precise arrival estimates.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14500" y="7042699"/>
            <a:ext cx="635972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One Interface: Track every campus route.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5712095"/>
            <a:ext cx="57150" cy="842962"/>
            <a:chOff x="0" y="0"/>
            <a:chExt cx="76200" cy="11239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" cy="1123950"/>
            </a:xfrm>
            <a:custGeom>
              <a:avLst/>
              <a:gdLst/>
              <a:ahLst/>
              <a:cxnLst/>
              <a:rect l="l" t="t" r="r" b="b"/>
              <a:pathLst>
                <a:path w="76200" h="1123950">
                  <a:moveTo>
                    <a:pt x="0" y="0"/>
                  </a:moveTo>
                  <a:lnTo>
                    <a:pt x="76200" y="0"/>
                  </a:lnTo>
                  <a:lnTo>
                    <a:pt x="7620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43000" y="7012257"/>
            <a:ext cx="57150" cy="842962"/>
            <a:chOff x="0" y="0"/>
            <a:chExt cx="76200" cy="1123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200" cy="1123950"/>
            </a:xfrm>
            <a:custGeom>
              <a:avLst/>
              <a:gdLst/>
              <a:ahLst/>
              <a:cxnLst/>
              <a:rect l="l" t="t" r="r" b="b"/>
              <a:pathLst>
                <a:path w="76200" h="1123950">
                  <a:moveTo>
                    <a:pt x="0" y="0"/>
                  </a:moveTo>
                  <a:lnTo>
                    <a:pt x="76200" y="0"/>
                  </a:lnTo>
                  <a:lnTo>
                    <a:pt x="7620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87000" y="0"/>
            <a:ext cx="8001000" cy="10287000"/>
            <a:chOff x="0" y="0"/>
            <a:chExt cx="10668000" cy="137160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668000" cy="13716000"/>
            </a:xfrm>
            <a:custGeom>
              <a:avLst/>
              <a:gdLst/>
              <a:ahLst/>
              <a:cxnLst/>
              <a:rect l="l" t="t" r="r" b="b"/>
              <a:pathLst>
                <a:path w="10668000" h="13716000">
                  <a:moveTo>
                    <a:pt x="0" y="0"/>
                  </a:moveTo>
                  <a:lnTo>
                    <a:pt x="10668000" y="0"/>
                  </a:lnTo>
                  <a:lnTo>
                    <a:pt x="1066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43000" y="2431780"/>
            <a:ext cx="2093863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 i="1">
                <a:solidFill>
                  <a:srgbClr val="4F46E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CORE FEATURE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2946130"/>
            <a:ext cx="7230219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Continuous Tracking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4089130"/>
            <a:ext cx="8143875" cy="92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674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Four major campus lines converge on the central dashboard.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43050" y="5712095"/>
            <a:ext cx="3880396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 i="1" dirty="0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South &amp; North Lines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3050" y="6255020"/>
            <a:ext cx="3583632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 b="1" i="1">
                <a:solidFill>
                  <a:srgbClr val="64748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Real-time location polling.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050" y="7012257"/>
            <a:ext cx="318209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East &amp; West Lines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3050" y="7555182"/>
            <a:ext cx="388039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 b="1" i="1">
                <a:solidFill>
                  <a:srgbClr val="64748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Traffic delay compensation.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64451" y="38100"/>
            <a:ext cx="11175949" cy="10287000"/>
            <a:chOff x="0" y="0"/>
            <a:chExt cx="1490126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901290" cy="13716000"/>
            </a:xfrm>
            <a:custGeom>
              <a:avLst/>
              <a:gdLst/>
              <a:ahLst/>
              <a:cxnLst/>
              <a:rect l="l" t="t" r="r" b="b"/>
              <a:pathLst>
                <a:path w="14901290" h="13716000">
                  <a:moveTo>
                    <a:pt x="0" y="0"/>
                  </a:moveTo>
                  <a:lnTo>
                    <a:pt x="14901290" y="0"/>
                  </a:lnTo>
                  <a:lnTo>
                    <a:pt x="1490129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55051" y="7149332"/>
            <a:ext cx="8889949" cy="14288"/>
            <a:chOff x="0" y="0"/>
            <a:chExt cx="11853266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853291" cy="19050"/>
            </a:xfrm>
            <a:custGeom>
              <a:avLst/>
              <a:gdLst/>
              <a:ahLst/>
              <a:cxnLst/>
              <a:rect l="l" t="t" r="r" b="b"/>
              <a:pathLst>
                <a:path w="11853291" h="19050">
                  <a:moveTo>
                    <a:pt x="0" y="0"/>
                  </a:moveTo>
                  <a:lnTo>
                    <a:pt x="11853291" y="0"/>
                  </a:lnTo>
                  <a:lnTo>
                    <a:pt x="1185329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255051" y="7149332"/>
            <a:ext cx="8889949" cy="14288"/>
            <a:chOff x="0" y="0"/>
            <a:chExt cx="11853266" cy="19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53291" cy="19050"/>
            </a:xfrm>
            <a:custGeom>
              <a:avLst/>
              <a:gdLst/>
              <a:ahLst/>
              <a:cxnLst/>
              <a:rect l="l" t="t" r="r" b="b"/>
              <a:pathLst>
                <a:path w="11853291" h="19050">
                  <a:moveTo>
                    <a:pt x="0" y="0"/>
                  </a:moveTo>
                  <a:lnTo>
                    <a:pt x="11853291" y="0"/>
                  </a:lnTo>
                  <a:lnTo>
                    <a:pt x="1185329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7112051" cy="10287000"/>
            <a:chOff x="0" y="0"/>
            <a:chExt cx="9482734" cy="137160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9482709" cy="13716000"/>
            </a:xfrm>
            <a:custGeom>
              <a:avLst/>
              <a:gdLst/>
              <a:ahLst/>
              <a:cxnLst/>
              <a:rect l="l" t="t" r="r" b="b"/>
              <a:pathLst>
                <a:path w="9482709" h="13716000">
                  <a:moveTo>
                    <a:pt x="0" y="0"/>
                  </a:moveTo>
                  <a:lnTo>
                    <a:pt x="9482709" y="0"/>
                  </a:lnTo>
                  <a:lnTo>
                    <a:pt x="9482709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" r="-2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7112051" cy="10287000"/>
            <a:chOff x="0" y="0"/>
            <a:chExt cx="9482734" cy="137160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9482709" cy="13716000"/>
            </a:xfrm>
            <a:custGeom>
              <a:avLst/>
              <a:gdLst/>
              <a:ahLst/>
              <a:cxnLst/>
              <a:rect l="l" t="t" r="r" b="b"/>
              <a:pathLst>
                <a:path w="9482709" h="13716000">
                  <a:moveTo>
                    <a:pt x="0" y="0"/>
                  </a:moveTo>
                  <a:lnTo>
                    <a:pt x="9482709" y="0"/>
                  </a:lnTo>
                  <a:lnTo>
                    <a:pt x="9482709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" r="-2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255051" y="2465937"/>
            <a:ext cx="914400" cy="914400"/>
            <a:chOff x="0" y="0"/>
            <a:chExt cx="1219200" cy="12192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8512226" y="2694537"/>
            <a:ext cx="400050" cy="457200"/>
            <a:chOff x="0" y="0"/>
            <a:chExt cx="533400" cy="6096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16" r="-216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8255051" y="1951587"/>
            <a:ext cx="256534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 i="1" dirty="0">
                <a:solidFill>
                  <a:srgbClr val="0596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CORE FEATURE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55050" y="3894687"/>
            <a:ext cx="8127949" cy="795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58"/>
              </a:lnSpc>
            </a:pPr>
            <a:r>
              <a:rPr lang="en-US" sz="5599" b="1" i="1" dirty="0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Smart Boarding Alerts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55051" y="4849044"/>
            <a:ext cx="10032949" cy="48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2674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Leave home at the exact right moment.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55051" y="5977757"/>
            <a:ext cx="325948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5-Minute Warning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55051" y="6506394"/>
            <a:ext cx="593675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 b="1" i="1">
                <a:solidFill>
                  <a:srgbClr val="64748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Automated push notification before arrival.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55050" y="7506519"/>
            <a:ext cx="46227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 i="1" dirty="0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Personalized Stop Focus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55051" y="8035157"/>
            <a:ext cx="4997202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 b="1" i="1">
                <a:solidFill>
                  <a:srgbClr val="64748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Save your default boarding location.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3286125"/>
            <a:ext cx="7658100" cy="57150"/>
            <a:chOff x="0" y="0"/>
            <a:chExt cx="10210800" cy="76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10800" cy="76200"/>
            </a:xfrm>
            <a:custGeom>
              <a:avLst/>
              <a:gdLst/>
              <a:ahLst/>
              <a:cxnLst/>
              <a:rect l="l" t="t" r="r" b="b"/>
              <a:pathLst>
                <a:path w="10210800" h="76200">
                  <a:moveTo>
                    <a:pt x="0" y="0"/>
                  </a:moveTo>
                  <a:lnTo>
                    <a:pt x="10210800" y="0"/>
                  </a:lnTo>
                  <a:lnTo>
                    <a:pt x="102108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486900" y="3286125"/>
            <a:ext cx="7658100" cy="57150"/>
            <a:chOff x="0" y="0"/>
            <a:chExt cx="102108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210800" cy="76200"/>
            </a:xfrm>
            <a:custGeom>
              <a:avLst/>
              <a:gdLst/>
              <a:ahLst/>
              <a:cxnLst/>
              <a:rect l="l" t="t" r="r" b="b"/>
              <a:pathLst>
                <a:path w="10210800" h="76200">
                  <a:moveTo>
                    <a:pt x="0" y="0"/>
                  </a:moveTo>
                  <a:lnTo>
                    <a:pt x="10210800" y="0"/>
                  </a:lnTo>
                  <a:lnTo>
                    <a:pt x="102108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" y="3800475"/>
            <a:ext cx="7658100" cy="685800"/>
            <a:chOff x="0" y="0"/>
            <a:chExt cx="10210800" cy="9144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210800" cy="914400"/>
            </a:xfrm>
            <a:custGeom>
              <a:avLst/>
              <a:gdLst/>
              <a:ahLst/>
              <a:cxnLst/>
              <a:rect l="l" t="t" r="r" b="b"/>
              <a:pathLst>
                <a:path w="10210800" h="914400">
                  <a:moveTo>
                    <a:pt x="0" y="0"/>
                  </a:moveTo>
                  <a:lnTo>
                    <a:pt x="10210800" y="0"/>
                  </a:lnTo>
                  <a:lnTo>
                    <a:pt x="102108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486900" y="3800475"/>
            <a:ext cx="7658100" cy="685800"/>
            <a:chOff x="0" y="0"/>
            <a:chExt cx="10210800" cy="9144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0210800" cy="914400"/>
            </a:xfrm>
            <a:custGeom>
              <a:avLst/>
              <a:gdLst/>
              <a:ahLst/>
              <a:cxnLst/>
              <a:rect l="l" t="t" r="r" b="b"/>
              <a:pathLst>
                <a:path w="10210800" h="914400">
                  <a:moveTo>
                    <a:pt x="0" y="0"/>
                  </a:moveTo>
                  <a:lnTo>
                    <a:pt x="10210800" y="0"/>
                  </a:lnTo>
                  <a:lnTo>
                    <a:pt x="102108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143000" y="5765006"/>
            <a:ext cx="257175" cy="300038"/>
            <a:chOff x="0" y="0"/>
            <a:chExt cx="342900" cy="40005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342900" cy="400050"/>
            </a:xfrm>
            <a:custGeom>
              <a:avLst/>
              <a:gdLst/>
              <a:ahLst/>
              <a:cxnLst/>
              <a:rect l="l" t="t" r="r" b="b"/>
              <a:pathLst>
                <a:path w="342900" h="40005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143000" y="6336506"/>
            <a:ext cx="257175" cy="300038"/>
            <a:chOff x="0" y="0"/>
            <a:chExt cx="342900" cy="40005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342900" cy="400050"/>
            </a:xfrm>
            <a:custGeom>
              <a:avLst/>
              <a:gdLst/>
              <a:ahLst/>
              <a:cxnLst/>
              <a:rect l="l" t="t" r="r" b="b"/>
              <a:pathLst>
                <a:path w="342900" h="40005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143000" y="6908006"/>
            <a:ext cx="257175" cy="300038"/>
            <a:chOff x="0" y="0"/>
            <a:chExt cx="342900" cy="40005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342900" cy="400050"/>
            </a:xfrm>
            <a:custGeom>
              <a:avLst/>
              <a:gdLst/>
              <a:ahLst/>
              <a:cxnLst/>
              <a:rect l="l" t="t" r="r" b="b"/>
              <a:pathLst>
                <a:path w="342900" h="40005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9486900" y="5765006"/>
            <a:ext cx="257175" cy="300038"/>
            <a:chOff x="0" y="0"/>
            <a:chExt cx="342900" cy="40005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342900" cy="400050"/>
            </a:xfrm>
            <a:custGeom>
              <a:avLst/>
              <a:gdLst/>
              <a:ahLst/>
              <a:cxnLst/>
              <a:rect l="l" t="t" r="r" b="b"/>
              <a:pathLst>
                <a:path w="342900" h="40005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486900" y="6336506"/>
            <a:ext cx="257175" cy="300038"/>
            <a:chOff x="0" y="0"/>
            <a:chExt cx="342900" cy="40005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42900" cy="400050"/>
            </a:xfrm>
            <a:custGeom>
              <a:avLst/>
              <a:gdLst/>
              <a:ahLst/>
              <a:cxnLst/>
              <a:rect l="l" t="t" r="r" b="b"/>
              <a:pathLst>
                <a:path w="342900" h="40005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9486900" y="6908006"/>
            <a:ext cx="257175" cy="300038"/>
            <a:chOff x="0" y="0"/>
            <a:chExt cx="342900" cy="40005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342900" cy="400050"/>
            </a:xfrm>
            <a:custGeom>
              <a:avLst/>
              <a:gdLst/>
              <a:ahLst/>
              <a:cxnLst/>
              <a:rect l="l" t="t" r="r" b="b"/>
              <a:pathLst>
                <a:path w="342900" h="40005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143000" y="914400"/>
            <a:ext cx="11395323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 Better Experience for Everyone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3000" y="1990725"/>
            <a:ext cx="67056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9"/>
              </a:lnSpc>
            </a:pPr>
            <a:r>
              <a:rPr lang="en-US" sz="2674" b="1" i="1" dirty="0">
                <a:solidFill>
                  <a:srgbClr val="64748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From the campus to the family home.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3000" y="4829175"/>
            <a:ext cx="299114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For Students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86900" y="4829175"/>
            <a:ext cx="270539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For Parents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85900" y="5734050"/>
            <a:ext cx="396210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Maximized morning sleep.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85900" y="6305550"/>
            <a:ext cx="496699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Elimination of weather exposure.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85900" y="6877050"/>
            <a:ext cx="5257354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Guaranteed connection to classes.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29800" y="5734050"/>
            <a:ext cx="4053929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Verified route progression.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29800" y="6305550"/>
            <a:ext cx="586576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Peace of mind for younger commuters.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829800" y="6877050"/>
            <a:ext cx="543103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Instant awareness of transit delays.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34024" y="6072188"/>
            <a:ext cx="571500" cy="571500"/>
            <a:chOff x="0" y="0"/>
            <a:chExt cx="762000" cy="762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0" r="-125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582248" y="6072188"/>
            <a:ext cx="571500" cy="571500"/>
            <a:chOff x="0" y="0"/>
            <a:chExt cx="762000" cy="762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50" r="-125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124048" y="5357812"/>
            <a:ext cx="1143000" cy="1143000"/>
            <a:chOff x="0" y="0"/>
            <a:chExt cx="1524000" cy="15240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25" r="-62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572281" y="5357812"/>
            <a:ext cx="1143000" cy="1143000"/>
            <a:chOff x="0" y="0"/>
            <a:chExt cx="1524000" cy="15240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25" r="-62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020505" y="5357812"/>
            <a:ext cx="1143000" cy="1143000"/>
            <a:chOff x="0" y="0"/>
            <a:chExt cx="1524000" cy="15240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25" r="-625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3466948" y="5700712"/>
            <a:ext cx="457200" cy="457200"/>
            <a:chOff x="0" y="0"/>
            <a:chExt cx="609600" cy="6096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562" r="-156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8915181" y="5700712"/>
            <a:ext cx="457200" cy="457200"/>
            <a:chOff x="0" y="0"/>
            <a:chExt cx="609600" cy="6096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562" r="-156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4420555" y="5700712"/>
            <a:ext cx="342900" cy="457200"/>
            <a:chOff x="0" y="0"/>
            <a:chExt cx="457200" cy="6096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457200" cy="609600"/>
            </a:xfrm>
            <a:custGeom>
              <a:avLst/>
              <a:gdLst/>
              <a:ahLst/>
              <a:cxnLst/>
              <a:rect l="l" t="t" r="r" b="b"/>
              <a:pathLst>
                <a:path w="457200" h="6096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083" r="-2083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143000" y="914400"/>
            <a:ext cx="2781148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i="1" dirty="0">
                <a:solidFill>
                  <a:srgbClr val="64748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BEHIND THE SCENES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1438275"/>
            <a:ext cx="6433096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How SONAR Works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3000" y="2505075"/>
            <a:ext cx="7084814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 i="1">
                <a:solidFill>
                  <a:srgbClr val="64748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 streamlined pipeline from vehicle to student.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82589" y="6843712"/>
            <a:ext cx="202614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1. Telemetry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6335" y="7434263"/>
            <a:ext cx="5238655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Buses transmit live GPS coordinates.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06689" y="6843712"/>
            <a:ext cx="347439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2. Processing Engine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24558" y="7434263"/>
            <a:ext cx="5238655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Server calculates accurate arrival ETAs.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83374" y="6843712"/>
            <a:ext cx="337582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i="1" dirty="0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3. Live Dashboard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972782" y="7434263"/>
            <a:ext cx="5238655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Students view seamless map updates.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2714625"/>
            <a:ext cx="6343650" cy="628650"/>
            <a:chOff x="0" y="0"/>
            <a:chExt cx="8458200" cy="838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58200" cy="838200"/>
            </a:xfrm>
            <a:custGeom>
              <a:avLst/>
              <a:gdLst/>
              <a:ahLst/>
              <a:cxnLst/>
              <a:rect l="l" t="t" r="r" b="b"/>
              <a:pathLst>
                <a:path w="8458200" h="838200">
                  <a:moveTo>
                    <a:pt x="0" y="0"/>
                  </a:moveTo>
                  <a:lnTo>
                    <a:pt x="8458200" y="0"/>
                  </a:lnTo>
                  <a:lnTo>
                    <a:pt x="8458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E0E7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43000" y="2714625"/>
            <a:ext cx="57150" cy="628650"/>
            <a:chOff x="0" y="0"/>
            <a:chExt cx="76200" cy="838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200" cy="838200"/>
            </a:xfrm>
            <a:custGeom>
              <a:avLst/>
              <a:gdLst/>
              <a:ahLst/>
              <a:cxnLst/>
              <a:rect l="l" t="t" r="r" b="b"/>
              <a:pathLst>
                <a:path w="76200" h="838200">
                  <a:moveTo>
                    <a:pt x="0" y="0"/>
                  </a:moveTo>
                  <a:lnTo>
                    <a:pt x="76200" y="0"/>
                  </a:lnTo>
                  <a:lnTo>
                    <a:pt x="76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35856" y="4021931"/>
            <a:ext cx="7786688" cy="5357812"/>
            <a:chOff x="0" y="0"/>
            <a:chExt cx="10382250" cy="71437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82250" cy="7143750"/>
            </a:xfrm>
            <a:custGeom>
              <a:avLst/>
              <a:gdLst/>
              <a:ahLst/>
              <a:cxnLst/>
              <a:rect l="l" t="t" r="r" b="b"/>
              <a:pathLst>
                <a:path w="10382250" h="714375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10076688" y="0"/>
                  </a:lnTo>
                  <a:cubicBezTo>
                    <a:pt x="10245471" y="0"/>
                    <a:pt x="10382250" y="136779"/>
                    <a:pt x="10382250" y="305562"/>
                  </a:cubicBezTo>
                  <a:lnTo>
                    <a:pt x="10382250" y="6838188"/>
                  </a:lnTo>
                  <a:cubicBezTo>
                    <a:pt x="10382250" y="7006971"/>
                    <a:pt x="10245471" y="7143750"/>
                    <a:pt x="10076688" y="7143750"/>
                  </a:cubicBezTo>
                  <a:lnTo>
                    <a:pt x="305562" y="7143750"/>
                  </a:lnTo>
                  <a:cubicBezTo>
                    <a:pt x="136779" y="7143750"/>
                    <a:pt x="0" y="7006971"/>
                    <a:pt x="0" y="68381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365456" y="4021931"/>
            <a:ext cx="7786688" cy="5357812"/>
            <a:chOff x="0" y="0"/>
            <a:chExt cx="10382250" cy="71437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82250" cy="7143750"/>
            </a:xfrm>
            <a:custGeom>
              <a:avLst/>
              <a:gdLst/>
              <a:ahLst/>
              <a:cxnLst/>
              <a:rect l="l" t="t" r="r" b="b"/>
              <a:pathLst>
                <a:path w="10382250" h="714375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10076688" y="0"/>
                  </a:lnTo>
                  <a:cubicBezTo>
                    <a:pt x="10245471" y="0"/>
                    <a:pt x="10382250" y="136779"/>
                    <a:pt x="10382250" y="305562"/>
                  </a:cubicBezTo>
                  <a:lnTo>
                    <a:pt x="10382250" y="6838188"/>
                  </a:lnTo>
                  <a:cubicBezTo>
                    <a:pt x="10382250" y="7006971"/>
                    <a:pt x="10245471" y="7143750"/>
                    <a:pt x="10076688" y="7143750"/>
                  </a:cubicBezTo>
                  <a:lnTo>
                    <a:pt x="305562" y="7143750"/>
                  </a:lnTo>
                  <a:cubicBezTo>
                    <a:pt x="136779" y="7143750"/>
                    <a:pt x="0" y="7006971"/>
                    <a:pt x="0" y="68381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728788" y="5357812"/>
            <a:ext cx="6600825" cy="685800"/>
            <a:chOff x="0" y="0"/>
            <a:chExt cx="8801100" cy="9144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8801100" cy="914400"/>
            </a:xfrm>
            <a:custGeom>
              <a:avLst/>
              <a:gdLst/>
              <a:ahLst/>
              <a:cxnLst/>
              <a:rect l="l" t="t" r="r" b="b"/>
              <a:pathLst>
                <a:path w="8801100" h="914400">
                  <a:moveTo>
                    <a:pt x="0" y="0"/>
                  </a:moveTo>
                  <a:lnTo>
                    <a:pt x="8801100" y="0"/>
                  </a:lnTo>
                  <a:lnTo>
                    <a:pt x="8801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8" r="-108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982200" y="5357812"/>
            <a:ext cx="6600825" cy="685800"/>
            <a:chOff x="0" y="0"/>
            <a:chExt cx="8801100" cy="9144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8801100" cy="914400"/>
            </a:xfrm>
            <a:custGeom>
              <a:avLst/>
              <a:gdLst/>
              <a:ahLst/>
              <a:cxnLst/>
              <a:rect l="l" t="t" r="r" b="b"/>
              <a:pathLst>
                <a:path w="8801100" h="914400">
                  <a:moveTo>
                    <a:pt x="0" y="0"/>
                  </a:moveTo>
                  <a:lnTo>
                    <a:pt x="8801100" y="0"/>
                  </a:lnTo>
                  <a:lnTo>
                    <a:pt x="8801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8" r="-108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43000" y="923925"/>
            <a:ext cx="888876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Current Technology Stack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2000250"/>
            <a:ext cx="388411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9"/>
              </a:lnSpc>
            </a:pPr>
            <a:r>
              <a:rPr lang="en-US" sz="2574" b="1" i="1">
                <a:solidFill>
                  <a:srgbClr val="64748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What We Are Using Now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3050" y="2886075"/>
            <a:ext cx="6153150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i="1" dirty="0">
                <a:solidFill>
                  <a:srgbClr val="3730A3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Note: Mastered in class. Foundation of our system.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8787" y="6376987"/>
            <a:ext cx="4652220" cy="571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1" i="1" dirty="0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Frontend Interface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8788" y="7110412"/>
            <a:ext cx="6743700" cy="86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349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HTML &amp; CSS: Visible structure, layout, and styling.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58388" y="6376987"/>
            <a:ext cx="361637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Backend Server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58388" y="7110412"/>
            <a:ext cx="6743700" cy="86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349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Node.js: Runs server-side JavaScript for background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2714625"/>
            <a:ext cx="5543550" cy="628650"/>
            <a:chOff x="0" y="0"/>
            <a:chExt cx="7391400" cy="838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91400" cy="838200"/>
            </a:xfrm>
            <a:custGeom>
              <a:avLst/>
              <a:gdLst/>
              <a:ahLst/>
              <a:cxnLst/>
              <a:rect l="l" t="t" r="r" b="b"/>
              <a:pathLst>
                <a:path w="7391400" h="838200">
                  <a:moveTo>
                    <a:pt x="0" y="0"/>
                  </a:moveTo>
                  <a:lnTo>
                    <a:pt x="7391400" y="0"/>
                  </a:lnTo>
                  <a:lnTo>
                    <a:pt x="73914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CE7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43000" y="2714625"/>
            <a:ext cx="57150" cy="628650"/>
            <a:chOff x="0" y="0"/>
            <a:chExt cx="76200" cy="838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200" cy="838200"/>
            </a:xfrm>
            <a:custGeom>
              <a:avLst/>
              <a:gdLst/>
              <a:ahLst/>
              <a:cxnLst/>
              <a:rect l="l" t="t" r="r" b="b"/>
              <a:pathLst>
                <a:path w="76200" h="838200">
                  <a:moveTo>
                    <a:pt x="0" y="0"/>
                  </a:moveTo>
                  <a:lnTo>
                    <a:pt x="76200" y="0"/>
                  </a:lnTo>
                  <a:lnTo>
                    <a:pt x="76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" y="4757738"/>
            <a:ext cx="7543800" cy="28575"/>
            <a:chOff x="0" y="0"/>
            <a:chExt cx="10058400" cy="38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58400" cy="38100"/>
            </a:xfrm>
            <a:custGeom>
              <a:avLst/>
              <a:gdLst/>
              <a:ahLst/>
              <a:cxnLst/>
              <a:rect l="l" t="t" r="r" b="b"/>
              <a:pathLst>
                <a:path w="10058400" h="38100">
                  <a:moveTo>
                    <a:pt x="0" y="0"/>
                  </a:moveTo>
                  <a:lnTo>
                    <a:pt x="10058400" y="0"/>
                  </a:lnTo>
                  <a:lnTo>
                    <a:pt x="10058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601200" y="4757738"/>
            <a:ext cx="7543800" cy="28575"/>
            <a:chOff x="0" y="0"/>
            <a:chExt cx="10058400" cy="38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58400" cy="38100"/>
            </a:xfrm>
            <a:custGeom>
              <a:avLst/>
              <a:gdLst/>
              <a:ahLst/>
              <a:cxnLst/>
              <a:rect l="l" t="t" r="r" b="b"/>
              <a:pathLst>
                <a:path w="10058400" h="38100">
                  <a:moveTo>
                    <a:pt x="0" y="0"/>
                  </a:moveTo>
                  <a:lnTo>
                    <a:pt x="10058400" y="0"/>
                  </a:lnTo>
                  <a:lnTo>
                    <a:pt x="10058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43000" y="4086225"/>
            <a:ext cx="400050" cy="400050"/>
            <a:chOff x="0" y="0"/>
            <a:chExt cx="533400" cy="5334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601200" y="4086225"/>
            <a:ext cx="400050" cy="400050"/>
            <a:chOff x="0" y="0"/>
            <a:chExt cx="533400" cy="5334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43000" y="923925"/>
            <a:ext cx="5823793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Project Roadmap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2000250"/>
            <a:ext cx="5105400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89"/>
              </a:lnSpc>
            </a:pPr>
            <a:r>
              <a:rPr lang="en-US" sz="2574" b="1" i="1" dirty="0">
                <a:solidFill>
                  <a:srgbClr val="64748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Technologies We Will Use Next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3050" y="2886075"/>
            <a:ext cx="518353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 i="1">
                <a:solidFill>
                  <a:srgbClr val="9D174D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Note: Scaling up for live tracking and traffic.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0200" y="4029075"/>
            <a:ext cx="7690009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324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Real-Time Data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77450" y="4029075"/>
            <a:ext cx="7690009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324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Performance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5186362"/>
            <a:ext cx="7686675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574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IoT Telemetry: Hardware pipeline capturing live GPS coordinates.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3000" y="6523587"/>
            <a:ext cx="7686675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574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WebSockets: Instant live map updates without refreshing.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01200" y="5186362"/>
            <a:ext cx="7686675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574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Redis Cache: Fast storage prevents morning rush crashes.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1200" y="6523587"/>
            <a:ext cx="7686675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574" b="1" i="1">
                <a:solidFill>
                  <a:srgbClr val="33415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Geofence Triggers: Spatial math detects buses for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3514725"/>
            <a:ext cx="5029200" cy="57150"/>
            <a:chOff x="0" y="0"/>
            <a:chExt cx="6705600" cy="76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05600" cy="76200"/>
            </a:xfrm>
            <a:custGeom>
              <a:avLst/>
              <a:gdLst/>
              <a:ahLst/>
              <a:cxnLst/>
              <a:rect l="l" t="t" r="r" b="b"/>
              <a:pathLst>
                <a:path w="6705600" h="76200">
                  <a:moveTo>
                    <a:pt x="0" y="0"/>
                  </a:moveTo>
                  <a:lnTo>
                    <a:pt x="6705600" y="0"/>
                  </a:lnTo>
                  <a:lnTo>
                    <a:pt x="67056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629400" y="3514725"/>
            <a:ext cx="5029200" cy="57150"/>
            <a:chOff x="0" y="0"/>
            <a:chExt cx="67056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05600" cy="76200"/>
            </a:xfrm>
            <a:custGeom>
              <a:avLst/>
              <a:gdLst/>
              <a:ahLst/>
              <a:cxnLst/>
              <a:rect l="l" t="t" r="r" b="b"/>
              <a:pathLst>
                <a:path w="6705600" h="76200">
                  <a:moveTo>
                    <a:pt x="0" y="0"/>
                  </a:moveTo>
                  <a:lnTo>
                    <a:pt x="6705600" y="0"/>
                  </a:lnTo>
                  <a:lnTo>
                    <a:pt x="67056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115800" y="3514725"/>
            <a:ext cx="5029200" cy="57150"/>
            <a:chOff x="0" y="0"/>
            <a:chExt cx="67056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05600" cy="76200"/>
            </a:xfrm>
            <a:custGeom>
              <a:avLst/>
              <a:gdLst/>
              <a:ahLst/>
              <a:cxnLst/>
              <a:rect l="l" t="t" r="r" b="b"/>
              <a:pathLst>
                <a:path w="6705600" h="76200">
                  <a:moveTo>
                    <a:pt x="0" y="0"/>
                  </a:moveTo>
                  <a:lnTo>
                    <a:pt x="6705600" y="0"/>
                  </a:lnTo>
                  <a:lnTo>
                    <a:pt x="67056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43000" y="4029075"/>
            <a:ext cx="800100" cy="800100"/>
            <a:chOff x="0" y="0"/>
            <a:chExt cx="1066800" cy="10668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629400" y="4029075"/>
            <a:ext cx="800100" cy="800100"/>
            <a:chOff x="0" y="0"/>
            <a:chExt cx="1066800" cy="10668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115800" y="4029075"/>
            <a:ext cx="800100" cy="800100"/>
            <a:chOff x="0" y="0"/>
            <a:chExt cx="1066800" cy="10668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93031" y="4257675"/>
            <a:ext cx="300038" cy="342900"/>
            <a:chOff x="0" y="0"/>
            <a:chExt cx="400050" cy="4572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80" r="-2380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6879431" y="4257675"/>
            <a:ext cx="300038" cy="342900"/>
            <a:chOff x="0" y="0"/>
            <a:chExt cx="400050" cy="4572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80" r="-238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2301538" y="4257675"/>
            <a:ext cx="428625" cy="342900"/>
            <a:chOff x="0" y="0"/>
            <a:chExt cx="571500" cy="4572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143000" y="914400"/>
            <a:ext cx="9966127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Phased Campus Deployment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1990726"/>
            <a:ext cx="83820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9"/>
              </a:lnSpc>
            </a:pPr>
            <a:r>
              <a:rPr lang="en-US" sz="2674" b="1" i="1" dirty="0">
                <a:solidFill>
                  <a:srgbClr val="64748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Moving from prototype to college-wide standard.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3000" y="5172075"/>
            <a:ext cx="129540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 i="1" dirty="0">
                <a:solidFill>
                  <a:srgbClr val="4F46E5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PHASE 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3000" y="5572125"/>
            <a:ext cx="281940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3349" b="1" i="1" dirty="0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Pilot Testing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3000" y="6243638"/>
            <a:ext cx="6286500" cy="42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1 Route, 50 Beta Testers.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29400" y="5172076"/>
            <a:ext cx="137160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 i="1" dirty="0">
                <a:solidFill>
                  <a:srgbClr val="0596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PHASE 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29400" y="5572125"/>
            <a:ext cx="336083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334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Core Integration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29400" y="6243638"/>
            <a:ext cx="6286500" cy="42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All campus lines active.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15800" y="5172075"/>
            <a:ext cx="108198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 i="1">
                <a:solidFill>
                  <a:srgbClr val="DB277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PHASE 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115800" y="5572125"/>
            <a:ext cx="271239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3349" b="1" i="1">
                <a:solidFill>
                  <a:srgbClr val="0F172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Family Portal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115800" y="6243638"/>
            <a:ext cx="6172200" cy="42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 b="1" i="1">
                <a:solidFill>
                  <a:srgbClr val="47556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Parent access and notifications.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79419" y="5980662"/>
            <a:ext cx="4729162" cy="900112"/>
            <a:chOff x="0" y="0"/>
            <a:chExt cx="6305550" cy="1200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05550" cy="1200150"/>
            </a:xfrm>
            <a:custGeom>
              <a:avLst/>
              <a:gdLst/>
              <a:ahLst/>
              <a:cxnLst/>
              <a:rect l="l" t="t" r="r" b="b"/>
              <a:pathLst>
                <a:path w="6305550" h="1200150">
                  <a:moveTo>
                    <a:pt x="0" y="600075"/>
                  </a:moveTo>
                  <a:cubicBezTo>
                    <a:pt x="0" y="268605"/>
                    <a:pt x="268605" y="0"/>
                    <a:pt x="600075" y="0"/>
                  </a:cubicBezTo>
                  <a:lnTo>
                    <a:pt x="5705475" y="0"/>
                  </a:lnTo>
                  <a:cubicBezTo>
                    <a:pt x="6036945" y="0"/>
                    <a:pt x="6305550" y="268605"/>
                    <a:pt x="6305550" y="600075"/>
                  </a:cubicBezTo>
                  <a:cubicBezTo>
                    <a:pt x="6305550" y="931545"/>
                    <a:pt x="6036945" y="1200150"/>
                    <a:pt x="5705475" y="1200150"/>
                  </a:cubicBezTo>
                  <a:lnTo>
                    <a:pt x="600075" y="1200150"/>
                  </a:lnTo>
                  <a:cubicBezTo>
                    <a:pt x="268605" y="1200150"/>
                    <a:pt x="0" y="931545"/>
                    <a:pt x="0" y="60007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73" b="-52373"/>
              </a:stretch>
            </a:blipFill>
            <a:ln w="28575" cap="sq">
              <a:solidFill>
                <a:srgbClr val="4F46E5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245616" y="3506238"/>
            <a:ext cx="16204183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9"/>
              </a:lnSpc>
            </a:pPr>
            <a:r>
              <a:rPr lang="en-US" sz="8299" b="1" i="1" dirty="0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Ready for a smarter commute?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17221" y="4894812"/>
            <a:ext cx="4653558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 b="1" i="1" dirty="0">
                <a:solidFill>
                  <a:srgbClr val="CBD5E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Thank you. Open for Q&amp;A.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36329" y="6242598"/>
            <a:ext cx="3712671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449" b="1" i="1" dirty="0">
                <a:solidFill>
                  <a:srgbClr val="818CF8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SONAR PROJECT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410</Words>
  <Application>Microsoft Office PowerPoint</Application>
  <PresentationFormat>Custom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Inter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SONAR - Live Campus Bus Tracking ++++++4.pptx</dc:title>
  <dc:creator>HP</dc:creator>
  <cp:lastModifiedBy>Aayush</cp:lastModifiedBy>
  <cp:revision>2</cp:revision>
  <dcterms:created xsi:type="dcterms:W3CDTF">2006-08-16T00:00:00Z</dcterms:created>
  <dcterms:modified xsi:type="dcterms:W3CDTF">2026-09-25T05:16:18Z</dcterms:modified>
  <dc:identifier>DAHWLXiiG94</dc:identifier>
</cp:coreProperties>
</file>